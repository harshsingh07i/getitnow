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4.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Bold" charset="1" panose="00000800000000000000"/>
      <p:regular r:id="rId16"/>
    </p:embeddedFont>
    <p:embeddedFont>
      <p:font typeface="Open Sauce Light" charset="1" panose="00000400000000000000"/>
      <p:regular r:id="rId17"/>
    </p:embeddedFont>
    <p:embeddedFont>
      <p:font typeface="Open Sauce"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jpeg"/><Relationship Id="rId5" Type="http://schemas.openxmlformats.org/officeDocument/2006/relationships/image" Target="../media/image6.pn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png"/><Relationship Id="rId7" Type="http://schemas.openxmlformats.org/officeDocument/2006/relationships/image" Target="../media/image1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6.png"/><Relationship Id="rId5" Type="http://schemas.openxmlformats.org/officeDocument/2006/relationships/image" Target="../media/image1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2.jpeg"/><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30.png"/><Relationship Id="rId9" Type="http://schemas.openxmlformats.org/officeDocument/2006/relationships/image" Target="../media/image31.svg"/><Relationship Id="rId10" Type="http://schemas.openxmlformats.org/officeDocument/2006/relationships/image" Target="../media/image32.png"/><Relationship Id="rId11" Type="http://schemas.openxmlformats.org/officeDocument/2006/relationships/image" Target="../media/image33.svg"/><Relationship Id="rId12" Type="http://schemas.openxmlformats.org/officeDocument/2006/relationships/image" Target="../media/image34.jpe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028700" y="3515169"/>
            <a:ext cx="10496758" cy="6210596"/>
          </a:xfrm>
          <a:prstGeom prst="rect">
            <a:avLst/>
          </a:prstGeom>
        </p:spPr>
        <p:txBody>
          <a:bodyPr anchor="t" rtlCol="false" tIns="0" lIns="0" bIns="0" rIns="0">
            <a:spAutoFit/>
          </a:bodyPr>
          <a:lstStyle/>
          <a:p>
            <a:pPr algn="l">
              <a:lnSpc>
                <a:spcPts val="23796"/>
              </a:lnSpc>
            </a:pPr>
            <a:r>
              <a:rPr lang="en-US" b="true" sz="25315" spc="-531">
                <a:solidFill>
                  <a:srgbClr val="C1E328"/>
                </a:solidFill>
                <a:latin typeface="Open Sauce Bold"/>
                <a:ea typeface="Open Sauce Bold"/>
                <a:cs typeface="Open Sauce Bold"/>
                <a:sym typeface="Open Sauce Bold"/>
              </a:rPr>
              <a:t>GETITNOW</a:t>
            </a:r>
          </a:p>
        </p:txBody>
      </p:sp>
      <p:sp>
        <p:nvSpPr>
          <p:cNvPr name="Freeform 4" id="4"/>
          <p:cNvSpPr/>
          <p:nvPr/>
        </p:nvSpPr>
        <p:spPr>
          <a:xfrm flipH="false" flipV="false" rot="0">
            <a:off x="16458285" y="4469864"/>
            <a:ext cx="801015" cy="1347272"/>
          </a:xfrm>
          <a:custGeom>
            <a:avLst/>
            <a:gdLst/>
            <a:ahLst/>
            <a:cxnLst/>
            <a:rect r="r" b="b" t="t" l="l"/>
            <a:pathLst>
              <a:path h="1347272" w="801015">
                <a:moveTo>
                  <a:pt x="0" y="0"/>
                </a:moveTo>
                <a:lnTo>
                  <a:pt x="801015" y="0"/>
                </a:lnTo>
                <a:lnTo>
                  <a:pt x="801015" y="1347272"/>
                </a:lnTo>
                <a:lnTo>
                  <a:pt x="0" y="13472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5" id="5"/>
          <p:cNvSpPr txBox="true"/>
          <p:nvPr/>
        </p:nvSpPr>
        <p:spPr>
          <a:xfrm rot="0">
            <a:off x="10869820" y="7722011"/>
            <a:ext cx="6389480" cy="1517523"/>
          </a:xfrm>
          <a:prstGeom prst="rect">
            <a:avLst/>
          </a:prstGeom>
        </p:spPr>
        <p:txBody>
          <a:bodyPr anchor="t" rtlCol="false" tIns="0" lIns="0" bIns="0" rIns="0">
            <a:spAutoFit/>
          </a:bodyPr>
          <a:lstStyle/>
          <a:p>
            <a:pPr algn="l">
              <a:lnSpc>
                <a:spcPts val="3996"/>
              </a:lnSpc>
            </a:pPr>
            <a:r>
              <a:rPr lang="en-US" sz="3600" spc="-75">
                <a:solidFill>
                  <a:srgbClr val="C1E328"/>
                </a:solidFill>
                <a:latin typeface="Open Sauce Light"/>
                <a:ea typeface="Open Sauce Light"/>
                <a:cs typeface="Open Sauce Light"/>
                <a:sym typeface="Open Sauce Light"/>
              </a:rPr>
              <a:t>Connecting live neighborhood inventory to local demand—without owning a single dark store.</a:t>
            </a:r>
          </a:p>
        </p:txBody>
      </p:sp>
      <p:sp>
        <p:nvSpPr>
          <p:cNvPr name="TextBox 6" id="6"/>
          <p:cNvSpPr txBox="true"/>
          <p:nvPr/>
        </p:nvSpPr>
        <p:spPr>
          <a:xfrm rot="0">
            <a:off x="14514482" y="1430678"/>
            <a:ext cx="2744818" cy="328041"/>
          </a:xfrm>
          <a:prstGeom prst="rect">
            <a:avLst/>
          </a:prstGeom>
        </p:spPr>
        <p:txBody>
          <a:bodyPr anchor="t" rtlCol="false" tIns="0" lIns="0" bIns="0" rIns="0">
            <a:spAutoFit/>
          </a:bodyPr>
          <a:lstStyle/>
          <a:p>
            <a:pPr algn="r">
              <a:lnSpc>
                <a:spcPts val="2562"/>
              </a:lnSpc>
            </a:pPr>
            <a:r>
              <a:rPr lang="en-US" sz="2100" spc="33">
                <a:solidFill>
                  <a:srgbClr val="C1E328"/>
                </a:solidFill>
                <a:latin typeface="Open Sauce Light"/>
                <a:ea typeface="Open Sauce Light"/>
                <a:cs typeface="Open Sauce Light"/>
                <a:sym typeface="Open Sauce Light"/>
              </a:rPr>
              <a:t>Pre-Seed Pitch</a:t>
            </a:r>
          </a:p>
        </p:txBody>
      </p:sp>
      <p:sp>
        <p:nvSpPr>
          <p:cNvPr name="TextBox 7" id="7"/>
          <p:cNvSpPr txBox="true"/>
          <p:nvPr/>
        </p:nvSpPr>
        <p:spPr>
          <a:xfrm rot="0">
            <a:off x="14070144" y="1123211"/>
            <a:ext cx="3189156" cy="269367"/>
          </a:xfrm>
          <a:prstGeom prst="rect">
            <a:avLst/>
          </a:prstGeom>
        </p:spPr>
        <p:txBody>
          <a:bodyPr anchor="t" rtlCol="false" tIns="0" lIns="0" bIns="0" rIns="0">
            <a:spAutoFit/>
          </a:bodyPr>
          <a:lstStyle/>
          <a:p>
            <a:pPr algn="r">
              <a:lnSpc>
                <a:spcPts val="1973"/>
              </a:lnSpc>
            </a:pPr>
            <a:r>
              <a:rPr lang="en-US" b="true" sz="2100" spc="98">
                <a:solidFill>
                  <a:srgbClr val="C1E328"/>
                </a:solidFill>
                <a:latin typeface="Open Sauce Bold"/>
                <a:ea typeface="Open Sauce Bold"/>
                <a:cs typeface="Open Sauce Bold"/>
                <a:sym typeface="Open Sauce Bold"/>
              </a:rPr>
              <a:t>PRE-SEED STAGE |</a:t>
            </a:r>
          </a:p>
        </p:txBody>
      </p:sp>
      <p:sp>
        <p:nvSpPr>
          <p:cNvPr name="TextBox 8" id="8"/>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3" id="3"/>
          <p:cNvGrpSpPr/>
          <p:nvPr/>
        </p:nvGrpSpPr>
        <p:grpSpPr>
          <a:xfrm rot="0">
            <a:off x="4392097" y="2310213"/>
            <a:ext cx="6308378" cy="2583988"/>
            <a:chOff x="0" y="0"/>
            <a:chExt cx="977333" cy="400327"/>
          </a:xfrm>
        </p:grpSpPr>
        <p:sp>
          <p:nvSpPr>
            <p:cNvPr name="Freeform 4" id="4"/>
            <p:cNvSpPr/>
            <p:nvPr/>
          </p:nvSpPr>
          <p:spPr>
            <a:xfrm flipH="false" flipV="false" rot="0">
              <a:off x="0" y="0"/>
              <a:ext cx="977333" cy="400327"/>
            </a:xfrm>
            <a:custGeom>
              <a:avLst/>
              <a:gdLst/>
              <a:ahLst/>
              <a:cxnLst/>
              <a:rect r="r" b="b" t="t" l="l"/>
              <a:pathLst>
                <a:path h="400327" w="977333">
                  <a:moveTo>
                    <a:pt x="0" y="0"/>
                  </a:moveTo>
                  <a:lnTo>
                    <a:pt x="977333" y="0"/>
                  </a:lnTo>
                  <a:lnTo>
                    <a:pt x="977333" y="400327"/>
                  </a:lnTo>
                  <a:lnTo>
                    <a:pt x="0" y="400327"/>
                  </a:lnTo>
                  <a:close/>
                </a:path>
              </a:pathLst>
            </a:custGeom>
            <a:blipFill>
              <a:blip r:embed="rId4"/>
              <a:stretch>
                <a:fillRect l="0" t="-62959" r="0" b="0"/>
              </a:stretch>
            </a:blipFill>
          </p:spPr>
          <p:txBody>
            <a:bodyPr/>
            <a:p/>
          </p:txBody>
        </p:sp>
      </p:grpSp>
      <p:sp>
        <p:nvSpPr>
          <p:cNvPr name="Freeform 5" id="5"/>
          <p:cNvSpPr/>
          <p:nvPr/>
        </p:nvSpPr>
        <p:spPr>
          <a:xfrm flipH="false" flipV="false" rot="5400000">
            <a:off x="617721" y="8005064"/>
            <a:ext cx="1666940" cy="839531"/>
          </a:xfrm>
          <a:custGeom>
            <a:avLst/>
            <a:gdLst/>
            <a:ahLst/>
            <a:cxnLst/>
            <a:rect r="r" b="b" t="t" l="l"/>
            <a:pathLst>
              <a:path h="839531" w="1666940">
                <a:moveTo>
                  <a:pt x="0" y="0"/>
                </a:moveTo>
                <a:lnTo>
                  <a:pt x="1666939" y="0"/>
                </a:lnTo>
                <a:lnTo>
                  <a:pt x="1666939" y="839532"/>
                </a:lnTo>
                <a:lnTo>
                  <a:pt x="0" y="8395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TextBox 6" id="6"/>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7" id="7"/>
          <p:cNvSpPr txBox="true"/>
          <p:nvPr/>
        </p:nvSpPr>
        <p:spPr>
          <a:xfrm rot="0">
            <a:off x="4392097" y="5382338"/>
            <a:ext cx="5759843"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THE DISCONNECT</a:t>
            </a:r>
          </a:p>
        </p:txBody>
      </p:sp>
      <p:sp>
        <p:nvSpPr>
          <p:cNvPr name="TextBox 8" id="8"/>
          <p:cNvSpPr txBox="true"/>
          <p:nvPr/>
        </p:nvSpPr>
        <p:spPr>
          <a:xfrm rot="0">
            <a:off x="4392097" y="7389574"/>
            <a:ext cx="5431650" cy="16234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Demand and supply exist on the exact same street, but they are completely blind to each other. Millions of SMBs have live stock, but zero digital discoverability to buyers searching for those exact items.</a:t>
            </a:r>
          </a:p>
        </p:txBody>
      </p:sp>
      <p:sp>
        <p:nvSpPr>
          <p:cNvPr name="TextBox 9" id="9"/>
          <p:cNvSpPr txBox="true"/>
          <p:nvPr/>
        </p:nvSpPr>
        <p:spPr>
          <a:xfrm rot="0">
            <a:off x="12017568" y="3021331"/>
            <a:ext cx="3333879" cy="331089"/>
          </a:xfrm>
          <a:prstGeom prst="rect">
            <a:avLst/>
          </a:prstGeom>
        </p:spPr>
        <p:txBody>
          <a:bodyPr anchor="t" rtlCol="false" tIns="0" lIns="0" bIns="0" rIns="0">
            <a:spAutoFit/>
          </a:bodyPr>
          <a:lstStyle/>
          <a:p>
            <a:pPr algn="just">
              <a:lnSpc>
                <a:spcPts val="2688"/>
              </a:lnSpc>
            </a:pPr>
            <a:r>
              <a:rPr lang="en-US" sz="2100" spc="98">
                <a:solidFill>
                  <a:srgbClr val="C1E328"/>
                </a:solidFill>
                <a:latin typeface="Open Sauce"/>
                <a:ea typeface="Open Sauce"/>
                <a:cs typeface="Open Sauce"/>
                <a:sym typeface="Open Sauce"/>
              </a:rPr>
              <a:t>APP FATIGUE</a:t>
            </a:r>
          </a:p>
        </p:txBody>
      </p:sp>
      <p:sp>
        <p:nvSpPr>
          <p:cNvPr name="TextBox 10" id="10"/>
          <p:cNvSpPr txBox="true"/>
          <p:nvPr/>
        </p:nvSpPr>
        <p:spPr>
          <a:xfrm rot="0">
            <a:off x="12017568" y="3793873"/>
            <a:ext cx="3333879" cy="331089"/>
          </a:xfrm>
          <a:prstGeom prst="rect">
            <a:avLst/>
          </a:prstGeom>
        </p:spPr>
        <p:txBody>
          <a:bodyPr anchor="t" rtlCol="false" tIns="0" lIns="0" bIns="0" rIns="0">
            <a:spAutoFit/>
          </a:bodyPr>
          <a:lstStyle/>
          <a:p>
            <a:pPr algn="just">
              <a:lnSpc>
                <a:spcPts val="2688"/>
              </a:lnSpc>
            </a:pPr>
            <a:r>
              <a:rPr lang="en-US" sz="2100" spc="98">
                <a:solidFill>
                  <a:srgbClr val="C1E328"/>
                </a:solidFill>
                <a:latin typeface="Open Sauce"/>
                <a:ea typeface="Open Sauce"/>
                <a:cs typeface="Open Sauce"/>
                <a:sym typeface="Open Sauce"/>
              </a:rPr>
              <a:t>NO VISIBILITY</a:t>
            </a:r>
          </a:p>
        </p:txBody>
      </p:sp>
      <p:sp>
        <p:nvSpPr>
          <p:cNvPr name="TextBox 11" id="11"/>
          <p:cNvSpPr txBox="true"/>
          <p:nvPr/>
        </p:nvSpPr>
        <p:spPr>
          <a:xfrm rot="0">
            <a:off x="12017568" y="4563112"/>
            <a:ext cx="3333879" cy="331089"/>
          </a:xfrm>
          <a:prstGeom prst="rect">
            <a:avLst/>
          </a:prstGeom>
        </p:spPr>
        <p:txBody>
          <a:bodyPr anchor="t" rtlCol="false" tIns="0" lIns="0" bIns="0" rIns="0">
            <a:spAutoFit/>
          </a:bodyPr>
          <a:lstStyle/>
          <a:p>
            <a:pPr algn="just">
              <a:lnSpc>
                <a:spcPts val="2688"/>
              </a:lnSpc>
            </a:pPr>
            <a:r>
              <a:rPr lang="en-US" sz="2100" spc="98">
                <a:solidFill>
                  <a:srgbClr val="C1E328"/>
                </a:solidFill>
                <a:latin typeface="Open Sauce"/>
                <a:ea typeface="Open Sauce"/>
                <a:cs typeface="Open Sauce"/>
                <a:sym typeface="Open Sauce"/>
              </a:rPr>
              <a:t>SLOW DELIVERY</a:t>
            </a:r>
          </a:p>
        </p:txBody>
      </p:sp>
      <p:sp>
        <p:nvSpPr>
          <p:cNvPr name="TextBox 12" id="12"/>
          <p:cNvSpPr txBox="true"/>
          <p:nvPr/>
        </p:nvSpPr>
        <p:spPr>
          <a:xfrm rot="0">
            <a:off x="12017568" y="2252092"/>
            <a:ext cx="3333879"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KEY POINTS:</a:t>
            </a:r>
          </a:p>
        </p:txBody>
      </p:sp>
      <p:sp>
        <p:nvSpPr>
          <p:cNvPr name="TextBox 13" id="13"/>
          <p:cNvSpPr txBox="true"/>
          <p:nvPr/>
        </p:nvSpPr>
        <p:spPr>
          <a:xfrm rot="0">
            <a:off x="11400612" y="7351474"/>
            <a:ext cx="5858688" cy="16234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Users juggle 5+ different apps to find local stock, facing unpredictable delivery, fragmented checkouts, and massive friction that suppresses purchase intent.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Freeform 3" id="3"/>
          <p:cNvSpPr/>
          <p:nvPr/>
        </p:nvSpPr>
        <p:spPr>
          <a:xfrm flipH="false" flipV="false" rot="0">
            <a:off x="15725869" y="1028700"/>
            <a:ext cx="1533431" cy="1585314"/>
          </a:xfrm>
          <a:custGeom>
            <a:avLst/>
            <a:gdLst/>
            <a:ahLst/>
            <a:cxnLst/>
            <a:rect r="r" b="b" t="t" l="l"/>
            <a:pathLst>
              <a:path h="1585314" w="1533431">
                <a:moveTo>
                  <a:pt x="0" y="0"/>
                </a:moveTo>
                <a:lnTo>
                  <a:pt x="1533431" y="0"/>
                </a:lnTo>
                <a:lnTo>
                  <a:pt x="1533431" y="1585314"/>
                </a:lnTo>
                <a:lnTo>
                  <a:pt x="0" y="15853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grpSp>
        <p:nvGrpSpPr>
          <p:cNvPr name="Group 4" id="4"/>
          <p:cNvGrpSpPr/>
          <p:nvPr/>
        </p:nvGrpSpPr>
        <p:grpSpPr>
          <a:xfrm rot="0">
            <a:off x="7481755" y="2101865"/>
            <a:ext cx="6308378" cy="2583988"/>
            <a:chOff x="0" y="0"/>
            <a:chExt cx="977333" cy="400327"/>
          </a:xfrm>
        </p:grpSpPr>
        <p:sp>
          <p:nvSpPr>
            <p:cNvPr name="Freeform 5" id="5"/>
            <p:cNvSpPr/>
            <p:nvPr/>
          </p:nvSpPr>
          <p:spPr>
            <a:xfrm flipH="false" flipV="false" rot="0">
              <a:off x="0" y="0"/>
              <a:ext cx="977333" cy="400327"/>
            </a:xfrm>
            <a:custGeom>
              <a:avLst/>
              <a:gdLst/>
              <a:ahLst/>
              <a:cxnLst/>
              <a:rect r="r" b="b" t="t" l="l"/>
              <a:pathLst>
                <a:path h="400327" w="977333">
                  <a:moveTo>
                    <a:pt x="0" y="0"/>
                  </a:moveTo>
                  <a:lnTo>
                    <a:pt x="977333" y="0"/>
                  </a:lnTo>
                  <a:lnTo>
                    <a:pt x="977333" y="400327"/>
                  </a:lnTo>
                  <a:lnTo>
                    <a:pt x="0" y="400327"/>
                  </a:lnTo>
                  <a:close/>
                </a:path>
              </a:pathLst>
            </a:custGeom>
            <a:blipFill>
              <a:blip r:embed="rId6"/>
              <a:stretch>
                <a:fillRect l="0" t="-31479" r="0" b="-31479"/>
              </a:stretch>
            </a:blipFill>
          </p:spPr>
          <p:txBody>
            <a:bodyPr/>
            <a:p/>
          </p:txBody>
        </p:sp>
      </p:grpSp>
      <p:sp>
        <p:nvSpPr>
          <p:cNvPr name="TextBox 6" id="6"/>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7" id="7"/>
          <p:cNvSpPr txBox="true"/>
          <p:nvPr/>
        </p:nvSpPr>
        <p:spPr>
          <a:xfrm rot="0">
            <a:off x="1028700" y="2929967"/>
            <a:ext cx="5759843"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THE SOLUTION</a:t>
            </a:r>
          </a:p>
        </p:txBody>
      </p:sp>
      <p:sp>
        <p:nvSpPr>
          <p:cNvPr name="TextBox 8" id="8"/>
          <p:cNvSpPr txBox="true"/>
          <p:nvPr/>
        </p:nvSpPr>
        <p:spPr>
          <a:xfrm rot="0">
            <a:off x="1028700" y="5197634"/>
            <a:ext cx="10740192"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GetItNow is an asset-light aggregator. AI maps intent to live inventory across all categories, making local inventory as searchable as a Google query.</a:t>
            </a:r>
          </a:p>
        </p:txBody>
      </p:sp>
      <p:sp>
        <p:nvSpPr>
          <p:cNvPr name="TextBox 9" id="9"/>
          <p:cNvSpPr txBox="true"/>
          <p:nvPr/>
        </p:nvSpPr>
        <p:spPr>
          <a:xfrm rot="0">
            <a:off x="1028700" y="7755482"/>
            <a:ext cx="2192262"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UNIFIED</a:t>
            </a:r>
          </a:p>
        </p:txBody>
      </p:sp>
      <p:sp>
        <p:nvSpPr>
          <p:cNvPr name="TextBox 10" id="10"/>
          <p:cNvSpPr txBox="true"/>
          <p:nvPr/>
        </p:nvSpPr>
        <p:spPr>
          <a:xfrm rot="0">
            <a:off x="1028700" y="8282559"/>
            <a:ext cx="3292828"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Compare prices, distance, and ETAs instantly. Add items from multiple local stores and checkout in one seamless flow.</a:t>
            </a:r>
          </a:p>
        </p:txBody>
      </p:sp>
      <p:sp>
        <p:nvSpPr>
          <p:cNvPr name="TextBox 11" id="11"/>
          <p:cNvSpPr txBox="true"/>
          <p:nvPr/>
        </p:nvSpPr>
        <p:spPr>
          <a:xfrm rot="0">
            <a:off x="5289494" y="7693075"/>
            <a:ext cx="2192262"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ASSET-LIGHT</a:t>
            </a:r>
          </a:p>
        </p:txBody>
      </p:sp>
      <p:sp>
        <p:nvSpPr>
          <p:cNvPr name="TextBox 12" id="12"/>
          <p:cNvSpPr txBox="true"/>
          <p:nvPr/>
        </p:nvSpPr>
        <p:spPr>
          <a:xfrm rot="0">
            <a:off x="5289494" y="8220152"/>
            <a:ext cx="3195414"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match demand to existing nearby stock—100% asset-light, no warehousing, ensuring highly profitable unit economics.</a:t>
            </a:r>
          </a:p>
        </p:txBody>
      </p:sp>
      <p:sp>
        <p:nvSpPr>
          <p:cNvPr name="TextBox 13" id="13"/>
          <p:cNvSpPr txBox="true"/>
          <p:nvPr/>
        </p:nvSpPr>
        <p:spPr>
          <a:xfrm rot="0">
            <a:off x="9551697" y="7755482"/>
            <a:ext cx="2870700"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 CROSS-CATEGORY</a:t>
            </a:r>
          </a:p>
        </p:txBody>
      </p:sp>
      <p:sp>
        <p:nvSpPr>
          <p:cNvPr name="TextBox 14" id="14"/>
          <p:cNvSpPr txBox="true"/>
          <p:nvPr/>
        </p:nvSpPr>
        <p:spPr>
          <a:xfrm rot="0">
            <a:off x="9551697" y="8282559"/>
            <a:ext cx="3227885"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One platform for electronics, hardware, office supplies, home essentials, and more.</a:t>
            </a:r>
          </a:p>
        </p:txBody>
      </p:sp>
      <p:sp>
        <p:nvSpPr>
          <p:cNvPr name="TextBox 15" id="15"/>
          <p:cNvSpPr txBox="true"/>
          <p:nvPr/>
        </p:nvSpPr>
        <p:spPr>
          <a:xfrm rot="0">
            <a:off x="13812490" y="7693075"/>
            <a:ext cx="3446810"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ONDC-READY</a:t>
            </a:r>
          </a:p>
        </p:txBody>
      </p:sp>
      <p:sp>
        <p:nvSpPr>
          <p:cNvPr name="TextBox 16" id="16"/>
          <p:cNvSpPr txBox="true"/>
          <p:nvPr/>
        </p:nvSpPr>
        <p:spPr>
          <a:xfrm rot="0">
            <a:off x="13812490" y="8220152"/>
            <a:ext cx="3446810"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instantly route finalized orders to third-party ONDC delivery partners for fast fulfillment.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4" id="4"/>
          <p:cNvSpPr txBox="true"/>
          <p:nvPr/>
        </p:nvSpPr>
        <p:spPr>
          <a:xfrm rot="0">
            <a:off x="1028700" y="2929967"/>
            <a:ext cx="7496054"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THE OPPORTUNITY</a:t>
            </a:r>
          </a:p>
        </p:txBody>
      </p:sp>
      <p:sp>
        <p:nvSpPr>
          <p:cNvPr name="TextBox 5" id="5"/>
          <p:cNvSpPr txBox="true"/>
          <p:nvPr/>
        </p:nvSpPr>
        <p:spPr>
          <a:xfrm rot="0">
            <a:off x="1028700" y="5197634"/>
            <a:ext cx="5865436" cy="12995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India's local retail market is still largely offline, but ONDC infrastructure and UPI ubiquity have created a massive digitization tailwind.</a:t>
            </a:r>
          </a:p>
        </p:txBody>
      </p:sp>
      <p:pic>
        <p:nvPicPr>
          <p:cNvPr name="Picture 6" id="6"/>
          <p:cNvPicPr>
            <a:picLocks noChangeAspect="true"/>
          </p:cNvPicPr>
          <p:nvPr/>
        </p:nvPicPr>
        <p:blipFill>
          <a:blip r:embed="rId4"/>
          <a:stretch>
            <a:fillRect/>
          </a:stretch>
        </p:blipFill>
        <p:spPr>
          <a:xfrm rot="0">
            <a:off x="9124985" y="967092"/>
            <a:ext cx="8873798" cy="6704491"/>
          </a:xfrm>
          <a:prstGeom prst="rect">
            <a:avLst/>
          </a:prstGeom>
        </p:spPr>
      </p:pic>
      <p:sp>
        <p:nvSpPr>
          <p:cNvPr name="TextBox 7" id="7"/>
          <p:cNvSpPr txBox="true"/>
          <p:nvPr/>
        </p:nvSpPr>
        <p:spPr>
          <a:xfrm rot="0">
            <a:off x="1028700" y="8244704"/>
            <a:ext cx="9432321" cy="997839"/>
          </a:xfrm>
          <a:prstGeom prst="rect">
            <a:avLst/>
          </a:prstGeom>
        </p:spPr>
        <p:txBody>
          <a:bodyPr anchor="t" rtlCol="false" tIns="0" lIns="0" bIns="0" rIns="0">
            <a:spAutoFit/>
          </a:bodyPr>
          <a:lstStyle/>
          <a:p>
            <a:pPr algn="l">
              <a:lnSpc>
                <a:spcPts val="2688"/>
              </a:lnSpc>
            </a:pPr>
            <a:r>
              <a:rPr lang="en-US" b="true" sz="2100" spc="98">
                <a:solidFill>
                  <a:srgbClr val="C1E328"/>
                </a:solidFill>
                <a:latin typeface="Open Sauce Bold"/>
                <a:ea typeface="Open Sauce Bold"/>
                <a:cs typeface="Open Sauce Bold"/>
                <a:sym typeface="Open Sauce Bold"/>
              </a:rPr>
              <a:t>$120B+ LOCAL COMMERCE TAM. $30B HYPERLOCAL DELIVERY MARKET. 60M+ SMBS READY FOR DIGITIZATION.</a:t>
            </a:r>
          </a:p>
        </p:txBody>
      </p:sp>
      <p:sp>
        <p:nvSpPr>
          <p:cNvPr name="AutoShape 8" id="8"/>
          <p:cNvSpPr/>
          <p:nvPr/>
        </p:nvSpPr>
        <p:spPr>
          <a:xfrm>
            <a:off x="1028700" y="7911329"/>
            <a:ext cx="2626874" cy="0"/>
          </a:xfrm>
          <a:prstGeom prst="line">
            <a:avLst/>
          </a:prstGeom>
          <a:ln cap="flat" w="114300">
            <a:solidFill>
              <a:srgbClr val="C1E328"/>
            </a:solidFill>
            <a:prstDash val="solid"/>
            <a:headEnd type="none" len="sm" w="sm"/>
            <a:tailEnd type="none" len="sm" w="sm"/>
          </a:ln>
        </p:spPr>
        <p:txBody>
          <a:body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1028700" y="5811346"/>
            <a:ext cx="6473110"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HOW IT WORKS</a:t>
            </a:r>
          </a:p>
        </p:txBody>
      </p:sp>
      <p:grpSp>
        <p:nvGrpSpPr>
          <p:cNvPr name="Group 4" id="4"/>
          <p:cNvGrpSpPr/>
          <p:nvPr/>
        </p:nvGrpSpPr>
        <p:grpSpPr>
          <a:xfrm rot="0">
            <a:off x="8905271" y="1075586"/>
            <a:ext cx="3682359" cy="3902991"/>
            <a:chOff x="0" y="0"/>
            <a:chExt cx="570494" cy="604675"/>
          </a:xfrm>
        </p:grpSpPr>
        <p:sp>
          <p:nvSpPr>
            <p:cNvPr name="Freeform 5" id="5"/>
            <p:cNvSpPr/>
            <p:nvPr/>
          </p:nvSpPr>
          <p:spPr>
            <a:xfrm flipH="false" flipV="false" rot="0">
              <a:off x="0" y="0"/>
              <a:ext cx="570494" cy="604675"/>
            </a:xfrm>
            <a:custGeom>
              <a:avLst/>
              <a:gdLst/>
              <a:ahLst/>
              <a:cxnLst/>
              <a:rect r="r" b="b" t="t" l="l"/>
              <a:pathLst>
                <a:path h="604675" w="570494">
                  <a:moveTo>
                    <a:pt x="0" y="0"/>
                  </a:moveTo>
                  <a:lnTo>
                    <a:pt x="570494" y="0"/>
                  </a:lnTo>
                  <a:lnTo>
                    <a:pt x="570494" y="604675"/>
                  </a:lnTo>
                  <a:lnTo>
                    <a:pt x="0" y="604675"/>
                  </a:lnTo>
                  <a:close/>
                </a:path>
              </a:pathLst>
            </a:custGeom>
            <a:blipFill>
              <a:blip r:embed="rId4"/>
              <a:stretch>
                <a:fillRect l="-29543" t="0" r="-29543" b="0"/>
              </a:stretch>
            </a:blipFill>
          </p:spPr>
          <p:txBody>
            <a:bodyPr/>
            <a:p/>
          </p:txBody>
        </p:sp>
      </p:grpSp>
      <p:grpSp>
        <p:nvGrpSpPr>
          <p:cNvPr name="Group 6" id="6"/>
          <p:cNvGrpSpPr/>
          <p:nvPr/>
        </p:nvGrpSpPr>
        <p:grpSpPr>
          <a:xfrm rot="0">
            <a:off x="8905271" y="5355309"/>
            <a:ext cx="3682359" cy="3902991"/>
            <a:chOff x="0" y="0"/>
            <a:chExt cx="570494" cy="604675"/>
          </a:xfrm>
        </p:grpSpPr>
        <p:sp>
          <p:nvSpPr>
            <p:cNvPr name="Freeform 7" id="7"/>
            <p:cNvSpPr/>
            <p:nvPr/>
          </p:nvSpPr>
          <p:spPr>
            <a:xfrm flipH="false" flipV="false" rot="0">
              <a:off x="0" y="0"/>
              <a:ext cx="570494" cy="604675"/>
            </a:xfrm>
            <a:custGeom>
              <a:avLst/>
              <a:gdLst/>
              <a:ahLst/>
              <a:cxnLst/>
              <a:rect r="r" b="b" t="t" l="l"/>
              <a:pathLst>
                <a:path h="604675" w="570494">
                  <a:moveTo>
                    <a:pt x="0" y="0"/>
                  </a:moveTo>
                  <a:lnTo>
                    <a:pt x="570494" y="0"/>
                  </a:lnTo>
                  <a:lnTo>
                    <a:pt x="570494" y="604675"/>
                  </a:lnTo>
                  <a:lnTo>
                    <a:pt x="0" y="604675"/>
                  </a:lnTo>
                  <a:close/>
                </a:path>
              </a:pathLst>
            </a:custGeom>
            <a:blipFill>
              <a:blip r:embed="rId5"/>
              <a:stretch>
                <a:fillRect l="0" t="-17390" r="0" b="-17390"/>
              </a:stretch>
            </a:blipFill>
          </p:spPr>
          <p:txBody>
            <a:bodyPr/>
            <a:p/>
          </p:txBody>
        </p:sp>
      </p:grpSp>
      <p:sp>
        <p:nvSpPr>
          <p:cNvPr name="Freeform 8" id="8"/>
          <p:cNvSpPr/>
          <p:nvPr/>
        </p:nvSpPr>
        <p:spPr>
          <a:xfrm flipH="true" flipV="false" rot="0">
            <a:off x="5738066" y="4429913"/>
            <a:ext cx="2138519" cy="1850791"/>
          </a:xfrm>
          <a:custGeom>
            <a:avLst/>
            <a:gdLst/>
            <a:ahLst/>
            <a:cxnLst/>
            <a:rect r="r" b="b" t="t" l="l"/>
            <a:pathLst>
              <a:path h="1850791" w="2138519">
                <a:moveTo>
                  <a:pt x="2138519" y="0"/>
                </a:moveTo>
                <a:lnTo>
                  <a:pt x="0" y="0"/>
                </a:lnTo>
                <a:lnTo>
                  <a:pt x="0" y="1850791"/>
                </a:lnTo>
                <a:lnTo>
                  <a:pt x="2138519" y="1850791"/>
                </a:lnTo>
                <a:lnTo>
                  <a:pt x="2138519"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TextBox 9" id="9"/>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10" id="10"/>
          <p:cNvSpPr txBox="true"/>
          <p:nvPr/>
        </p:nvSpPr>
        <p:spPr>
          <a:xfrm rot="0">
            <a:off x="1028700" y="7958709"/>
            <a:ext cx="6473110" cy="12995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Our product is designed to solve specific pain points through a seamless, user-focused experience. It offers a suite of features that directly address the needs of our target audience</a:t>
            </a:r>
          </a:p>
        </p:txBody>
      </p:sp>
      <p:sp>
        <p:nvSpPr>
          <p:cNvPr name="TextBox 11" id="11"/>
          <p:cNvSpPr txBox="true"/>
          <p:nvPr/>
        </p:nvSpPr>
        <p:spPr>
          <a:xfrm rot="0">
            <a:off x="13080998" y="3031287"/>
            <a:ext cx="4178302" cy="19472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The design and functionality are centered around intuitive interaction, making it easy for users to achieve their goals without friction or steep learning curves.</a:t>
            </a:r>
          </a:p>
        </p:txBody>
      </p:sp>
      <p:sp>
        <p:nvSpPr>
          <p:cNvPr name="TextBox 12" id="12"/>
          <p:cNvSpPr txBox="true"/>
          <p:nvPr/>
        </p:nvSpPr>
        <p:spPr>
          <a:xfrm rot="0">
            <a:off x="13080998" y="7634859"/>
            <a:ext cx="4178302" cy="16234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instantly route finalized orders to third-party ONDC delivery partners for fast, transparent fulfillment.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4" id="4"/>
          <p:cNvSpPr txBox="true"/>
          <p:nvPr/>
        </p:nvSpPr>
        <p:spPr>
          <a:xfrm rot="0">
            <a:off x="1028700" y="6014892"/>
            <a:ext cx="6107085"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BUSINESS MODEL</a:t>
            </a:r>
          </a:p>
        </p:txBody>
      </p:sp>
      <p:sp>
        <p:nvSpPr>
          <p:cNvPr name="TextBox 5" id="5"/>
          <p:cNvSpPr txBox="true"/>
          <p:nvPr/>
        </p:nvSpPr>
        <p:spPr>
          <a:xfrm rot="0">
            <a:off x="1028700" y="8282559"/>
            <a:ext cx="5865436" cy="12995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A razor-focused monetization strategy optimized for early profitability. We are asset-light by design.</a:t>
            </a:r>
          </a:p>
        </p:txBody>
      </p:sp>
      <p:sp>
        <p:nvSpPr>
          <p:cNvPr name="AutoShape 6" id="6"/>
          <p:cNvSpPr/>
          <p:nvPr/>
        </p:nvSpPr>
        <p:spPr>
          <a:xfrm>
            <a:off x="7590332" y="2991763"/>
            <a:ext cx="4148873" cy="0"/>
          </a:xfrm>
          <a:prstGeom prst="line">
            <a:avLst/>
          </a:prstGeom>
          <a:ln cap="flat" w="66675">
            <a:solidFill>
              <a:srgbClr val="C1E328"/>
            </a:solidFill>
            <a:prstDash val="solid"/>
            <a:headEnd type="none" len="sm" w="sm"/>
            <a:tailEnd type="none" len="sm" w="sm"/>
          </a:ln>
        </p:spPr>
        <p:txBody>
          <a:bodyPr/>
          <a:p/>
        </p:txBody>
      </p:sp>
      <p:sp>
        <p:nvSpPr>
          <p:cNvPr name="TextBox 7" id="7"/>
          <p:cNvSpPr txBox="true"/>
          <p:nvPr/>
        </p:nvSpPr>
        <p:spPr>
          <a:xfrm rot="0">
            <a:off x="7876082" y="1835872"/>
            <a:ext cx="1866722"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THE CORE ENGINE</a:t>
            </a:r>
          </a:p>
        </p:txBody>
      </p:sp>
      <p:sp>
        <p:nvSpPr>
          <p:cNvPr name="TextBox 8" id="8"/>
          <p:cNvSpPr txBox="true"/>
          <p:nvPr/>
        </p:nvSpPr>
        <p:spPr>
          <a:xfrm rot="0">
            <a:off x="12244114" y="1883497"/>
            <a:ext cx="4537728"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5-8% Commission on Gross Merchandise Value (GMV), charged purely on successful transactions.</a:t>
            </a:r>
          </a:p>
        </p:txBody>
      </p:sp>
      <p:sp>
        <p:nvSpPr>
          <p:cNvPr name="AutoShape 9" id="9"/>
          <p:cNvSpPr/>
          <p:nvPr/>
        </p:nvSpPr>
        <p:spPr>
          <a:xfrm>
            <a:off x="7590332" y="4753062"/>
            <a:ext cx="4148873" cy="0"/>
          </a:xfrm>
          <a:prstGeom prst="line">
            <a:avLst/>
          </a:prstGeom>
          <a:ln cap="flat" w="66675">
            <a:solidFill>
              <a:srgbClr val="C1E328"/>
            </a:solidFill>
            <a:prstDash val="solid"/>
            <a:headEnd type="none" len="sm" w="sm"/>
            <a:tailEnd type="none" len="sm" w="sm"/>
          </a:ln>
        </p:spPr>
        <p:txBody>
          <a:bodyPr/>
          <a:p/>
        </p:txBody>
      </p:sp>
      <p:sp>
        <p:nvSpPr>
          <p:cNvPr name="TextBox 10" id="10"/>
          <p:cNvSpPr txBox="true"/>
          <p:nvPr/>
        </p:nvSpPr>
        <p:spPr>
          <a:xfrm rot="0">
            <a:off x="7876082" y="3597172"/>
            <a:ext cx="1866722"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ZERO FULFILLMENT COST</a:t>
            </a:r>
          </a:p>
        </p:txBody>
      </p:sp>
      <p:sp>
        <p:nvSpPr>
          <p:cNvPr name="TextBox 11" id="11"/>
          <p:cNvSpPr txBox="true"/>
          <p:nvPr/>
        </p:nvSpPr>
        <p:spPr>
          <a:xfrm rot="0">
            <a:off x="12244114" y="3644797"/>
            <a:ext cx="5015186" cy="12995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Logistics costs are dynamically passed through to the consumer via delivery partners.</a:t>
            </a:r>
          </a:p>
        </p:txBody>
      </p:sp>
      <p:sp>
        <p:nvSpPr>
          <p:cNvPr name="AutoShape 12" id="12"/>
          <p:cNvSpPr/>
          <p:nvPr/>
        </p:nvSpPr>
        <p:spPr>
          <a:xfrm>
            <a:off x="7590332" y="6514362"/>
            <a:ext cx="4148873" cy="0"/>
          </a:xfrm>
          <a:prstGeom prst="line">
            <a:avLst/>
          </a:prstGeom>
          <a:ln cap="flat" w="66675">
            <a:solidFill>
              <a:srgbClr val="C1E328"/>
            </a:solidFill>
            <a:prstDash val="solid"/>
            <a:headEnd type="none" len="sm" w="sm"/>
            <a:tailEnd type="none" len="sm" w="sm"/>
          </a:ln>
        </p:spPr>
        <p:txBody>
          <a:bodyPr/>
          <a:p/>
        </p:txBody>
      </p:sp>
      <p:sp>
        <p:nvSpPr>
          <p:cNvPr name="TextBox 13" id="13"/>
          <p:cNvSpPr txBox="true"/>
          <p:nvPr/>
        </p:nvSpPr>
        <p:spPr>
          <a:xfrm rot="0">
            <a:off x="7876082" y="5358471"/>
            <a:ext cx="2235667"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FUTURE UPSIDE</a:t>
            </a:r>
          </a:p>
        </p:txBody>
      </p:sp>
      <p:sp>
        <p:nvSpPr>
          <p:cNvPr name="TextBox 14" id="14"/>
          <p:cNvSpPr txBox="true"/>
          <p:nvPr/>
        </p:nvSpPr>
        <p:spPr>
          <a:xfrm rot="0">
            <a:off x="12244114" y="5406096"/>
            <a:ext cx="5015186" cy="12995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Unlock high-margin Premium Merchant SaaS subscriptions and in-app sponsored placements.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 id="3"/>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4" id="4"/>
          <p:cNvSpPr txBox="true"/>
          <p:nvPr/>
        </p:nvSpPr>
        <p:spPr>
          <a:xfrm rot="0">
            <a:off x="4793342" y="2252222"/>
            <a:ext cx="12465958"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THE MOAT</a:t>
            </a:r>
          </a:p>
        </p:txBody>
      </p:sp>
      <p:sp>
        <p:nvSpPr>
          <p:cNvPr name="TextBox 5" id="5"/>
          <p:cNvSpPr txBox="true"/>
          <p:nvPr/>
        </p:nvSpPr>
        <p:spPr>
          <a:xfrm rot="0">
            <a:off x="8738887" y="4602358"/>
            <a:ext cx="7561162" cy="12995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Two-sided network effects make the platform more valuable as merchants and customers grow, creating high switching costs. </a:t>
            </a:r>
          </a:p>
        </p:txBody>
      </p:sp>
      <p:sp>
        <p:nvSpPr>
          <p:cNvPr name="TextBox 6" id="6"/>
          <p:cNvSpPr txBox="true"/>
          <p:nvPr/>
        </p:nvSpPr>
        <p:spPr>
          <a:xfrm rot="0">
            <a:off x="4793342" y="4592833"/>
            <a:ext cx="2778233" cy="664464"/>
          </a:xfrm>
          <a:prstGeom prst="rect">
            <a:avLst/>
          </a:prstGeom>
        </p:spPr>
        <p:txBody>
          <a:bodyPr anchor="t" rtlCol="false" tIns="0" lIns="0" bIns="0" rIns="0">
            <a:spAutoFit/>
          </a:bodyPr>
          <a:lstStyle/>
          <a:p>
            <a:pPr algn="l">
              <a:lnSpc>
                <a:spcPts val="2688"/>
              </a:lnSpc>
            </a:pPr>
            <a:r>
              <a:rPr lang="en-US" b="true" sz="2100" spc="98">
                <a:solidFill>
                  <a:srgbClr val="C1E328"/>
                </a:solidFill>
                <a:latin typeface="Open Sauce Bold"/>
                <a:ea typeface="Open Sauce Bold"/>
                <a:cs typeface="Open Sauce Bold"/>
                <a:sym typeface="Open Sauce Bold"/>
              </a:rPr>
              <a:t>AGAINST QUICK COMMERCE</a:t>
            </a:r>
          </a:p>
        </p:txBody>
      </p:sp>
      <p:sp>
        <p:nvSpPr>
          <p:cNvPr name="AutoShape 7" id="7"/>
          <p:cNvSpPr/>
          <p:nvPr/>
        </p:nvSpPr>
        <p:spPr>
          <a:xfrm>
            <a:off x="8125089" y="4611883"/>
            <a:ext cx="0" cy="4646417"/>
          </a:xfrm>
          <a:prstGeom prst="line">
            <a:avLst/>
          </a:prstGeom>
          <a:ln cap="flat" w="19050">
            <a:solidFill>
              <a:srgbClr val="C1E328"/>
            </a:solidFill>
            <a:prstDash val="solid"/>
            <a:headEnd type="none" len="sm" w="sm"/>
            <a:tailEnd type="none" len="sm" w="sm"/>
          </a:ln>
        </p:spPr>
        <p:txBody>
          <a:bodyPr/>
          <a:p/>
        </p:txBody>
      </p:sp>
      <p:sp>
        <p:nvSpPr>
          <p:cNvPr name="TextBox 8" id="8"/>
          <p:cNvSpPr txBox="true"/>
          <p:nvPr/>
        </p:nvSpPr>
        <p:spPr>
          <a:xfrm rot="0">
            <a:off x="8608671" y="6273943"/>
            <a:ext cx="7561162"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offer limitless, cross-category SKU depth without multi-million dollar warehouse burn.</a:t>
            </a:r>
          </a:p>
        </p:txBody>
      </p:sp>
      <p:sp>
        <p:nvSpPr>
          <p:cNvPr name="TextBox 9" id="9"/>
          <p:cNvSpPr txBox="true"/>
          <p:nvPr/>
        </p:nvSpPr>
        <p:spPr>
          <a:xfrm rot="0">
            <a:off x="4793342" y="6264418"/>
            <a:ext cx="2778233" cy="664464"/>
          </a:xfrm>
          <a:prstGeom prst="rect">
            <a:avLst/>
          </a:prstGeom>
        </p:spPr>
        <p:txBody>
          <a:bodyPr anchor="t" rtlCol="false" tIns="0" lIns="0" bIns="0" rIns="0">
            <a:spAutoFit/>
          </a:bodyPr>
          <a:lstStyle/>
          <a:p>
            <a:pPr algn="l">
              <a:lnSpc>
                <a:spcPts val="2688"/>
              </a:lnSpc>
            </a:pPr>
            <a:r>
              <a:rPr lang="en-US" b="true" sz="2100" spc="98">
                <a:solidFill>
                  <a:srgbClr val="C1E328"/>
                </a:solidFill>
                <a:latin typeface="Open Sauce Bold"/>
                <a:ea typeface="Open Sauce Bold"/>
                <a:cs typeface="Open Sauce Bold"/>
                <a:sym typeface="Open Sauce Bold"/>
              </a:rPr>
              <a:t>AGAINST AMAZON</a:t>
            </a:r>
          </a:p>
        </p:txBody>
      </p:sp>
      <p:sp>
        <p:nvSpPr>
          <p:cNvPr name="TextBox 10" id="10"/>
          <p:cNvSpPr txBox="true"/>
          <p:nvPr/>
        </p:nvSpPr>
        <p:spPr>
          <a:xfrm rot="0">
            <a:off x="8608671" y="7945009"/>
            <a:ext cx="7561162"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offer immediate, same-hour fulfillment from stores the customer already trusts.</a:t>
            </a:r>
          </a:p>
        </p:txBody>
      </p:sp>
      <p:sp>
        <p:nvSpPr>
          <p:cNvPr name="TextBox 11" id="11"/>
          <p:cNvSpPr txBox="true"/>
          <p:nvPr/>
        </p:nvSpPr>
        <p:spPr>
          <a:xfrm rot="0">
            <a:off x="4793342" y="7935484"/>
            <a:ext cx="2778233" cy="664464"/>
          </a:xfrm>
          <a:prstGeom prst="rect">
            <a:avLst/>
          </a:prstGeom>
        </p:spPr>
        <p:txBody>
          <a:bodyPr anchor="t" rtlCol="false" tIns="0" lIns="0" bIns="0" rIns="0">
            <a:spAutoFit/>
          </a:bodyPr>
          <a:lstStyle/>
          <a:p>
            <a:pPr algn="l">
              <a:lnSpc>
                <a:spcPts val="2688"/>
              </a:lnSpc>
            </a:pPr>
            <a:r>
              <a:rPr lang="en-US" b="true" sz="2100" spc="98">
                <a:solidFill>
                  <a:srgbClr val="C1E328"/>
                </a:solidFill>
                <a:latin typeface="Open Sauce Bold"/>
                <a:ea typeface="Open Sauce Bold"/>
                <a:cs typeface="Open Sauce Bold"/>
                <a:sym typeface="Open Sauce Bold"/>
              </a:rPr>
              <a:t>THE REAL DEFENSABILITY</a:t>
            </a:r>
          </a:p>
        </p:txBody>
      </p:sp>
      <p:sp>
        <p:nvSpPr>
          <p:cNvPr name="Freeform 12" id="12"/>
          <p:cNvSpPr/>
          <p:nvPr/>
        </p:nvSpPr>
        <p:spPr>
          <a:xfrm flipH="false" flipV="false" rot="0">
            <a:off x="1105505" y="8373850"/>
            <a:ext cx="765451" cy="884450"/>
          </a:xfrm>
          <a:custGeom>
            <a:avLst/>
            <a:gdLst/>
            <a:ahLst/>
            <a:cxnLst/>
            <a:rect r="r" b="b" t="t" l="l"/>
            <a:pathLst>
              <a:path h="884450" w="765451">
                <a:moveTo>
                  <a:pt x="0" y="0"/>
                </a:moveTo>
                <a:lnTo>
                  <a:pt x="765451" y="0"/>
                </a:lnTo>
                <a:lnTo>
                  <a:pt x="765451" y="884450"/>
                </a:lnTo>
                <a:lnTo>
                  <a:pt x="0" y="884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AutoShape 3" id="3"/>
          <p:cNvSpPr/>
          <p:nvPr/>
        </p:nvSpPr>
        <p:spPr>
          <a:xfrm>
            <a:off x="11116599" y="6748367"/>
            <a:ext cx="5404812" cy="0"/>
          </a:xfrm>
          <a:prstGeom prst="line">
            <a:avLst/>
          </a:prstGeom>
          <a:ln cap="flat" w="66675">
            <a:solidFill>
              <a:srgbClr val="C1E328"/>
            </a:solidFill>
            <a:prstDash val="solid"/>
            <a:headEnd type="none" len="sm" w="sm"/>
            <a:tailEnd type="none" len="sm" w="sm"/>
          </a:ln>
        </p:spPr>
        <p:txBody>
          <a:bodyPr/>
          <a:p/>
        </p:txBody>
      </p:sp>
      <p:sp>
        <p:nvSpPr>
          <p:cNvPr name="AutoShape 4" id="4"/>
          <p:cNvSpPr/>
          <p:nvPr/>
        </p:nvSpPr>
        <p:spPr>
          <a:xfrm>
            <a:off x="11116599" y="7986665"/>
            <a:ext cx="5404812" cy="0"/>
          </a:xfrm>
          <a:prstGeom prst="line">
            <a:avLst/>
          </a:prstGeom>
          <a:ln cap="flat" w="66675">
            <a:solidFill>
              <a:srgbClr val="C1E328"/>
            </a:solidFill>
            <a:prstDash val="solid"/>
            <a:headEnd type="none" len="sm" w="sm"/>
            <a:tailEnd type="none" len="sm" w="sm"/>
          </a:ln>
        </p:spPr>
        <p:txBody>
          <a:bodyPr/>
          <a:p/>
        </p:txBody>
      </p:sp>
      <p:sp>
        <p:nvSpPr>
          <p:cNvPr name="AutoShape 5" id="5"/>
          <p:cNvSpPr/>
          <p:nvPr/>
        </p:nvSpPr>
        <p:spPr>
          <a:xfrm>
            <a:off x="11116599" y="9224962"/>
            <a:ext cx="5404812" cy="0"/>
          </a:xfrm>
          <a:prstGeom prst="line">
            <a:avLst/>
          </a:prstGeom>
          <a:ln cap="flat" w="66675">
            <a:solidFill>
              <a:srgbClr val="C1E328"/>
            </a:solidFill>
            <a:prstDash val="solid"/>
            <a:headEnd type="none" len="sm" w="sm"/>
            <a:tailEnd type="none" len="sm" w="sm"/>
          </a:ln>
        </p:spPr>
        <p:txBody>
          <a:bodyPr/>
          <a:p/>
        </p:txBody>
      </p:sp>
      <p:sp>
        <p:nvSpPr>
          <p:cNvPr name="Freeform 6" id="6"/>
          <p:cNvSpPr/>
          <p:nvPr/>
        </p:nvSpPr>
        <p:spPr>
          <a:xfrm flipH="false" flipV="false" rot="0">
            <a:off x="3654230" y="8066606"/>
            <a:ext cx="1191694" cy="1191694"/>
          </a:xfrm>
          <a:custGeom>
            <a:avLst/>
            <a:gdLst/>
            <a:ahLst/>
            <a:cxnLst/>
            <a:rect r="r" b="b" t="t" l="l"/>
            <a:pathLst>
              <a:path h="1191694" w="1191694">
                <a:moveTo>
                  <a:pt x="0" y="0"/>
                </a:moveTo>
                <a:lnTo>
                  <a:pt x="1191694" y="0"/>
                </a:lnTo>
                <a:lnTo>
                  <a:pt x="1191694" y="1191694"/>
                </a:lnTo>
                <a:lnTo>
                  <a:pt x="0" y="1191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7" id="7"/>
          <p:cNvSpPr/>
          <p:nvPr/>
        </p:nvSpPr>
        <p:spPr>
          <a:xfrm flipH="false" flipV="false" rot="0">
            <a:off x="15694560" y="1028700"/>
            <a:ext cx="1564740" cy="1564740"/>
          </a:xfrm>
          <a:custGeom>
            <a:avLst/>
            <a:gdLst/>
            <a:ahLst/>
            <a:cxnLst/>
            <a:rect r="r" b="b" t="t" l="l"/>
            <a:pathLst>
              <a:path h="1564740" w="1564740">
                <a:moveTo>
                  <a:pt x="0" y="0"/>
                </a:moveTo>
                <a:lnTo>
                  <a:pt x="1564740" y="0"/>
                </a:lnTo>
                <a:lnTo>
                  <a:pt x="1564740" y="1564740"/>
                </a:lnTo>
                <a:lnTo>
                  <a:pt x="0" y="15647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TextBox 8" id="8"/>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9" id="9"/>
          <p:cNvSpPr txBox="true"/>
          <p:nvPr/>
        </p:nvSpPr>
        <p:spPr>
          <a:xfrm rot="0">
            <a:off x="3654230" y="2477362"/>
            <a:ext cx="5759843" cy="19786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GO TO MARKET</a:t>
            </a:r>
          </a:p>
        </p:txBody>
      </p:sp>
      <p:sp>
        <p:nvSpPr>
          <p:cNvPr name="TextBox 10" id="10"/>
          <p:cNvSpPr txBox="true"/>
          <p:nvPr/>
        </p:nvSpPr>
        <p:spPr>
          <a:xfrm rot="0">
            <a:off x="3654230" y="4745029"/>
            <a:ext cx="7167595"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win by establishing absolute liquidity in a 2km radius before moving to the next. Hyper-dense micro-markets.</a:t>
            </a:r>
          </a:p>
        </p:txBody>
      </p:sp>
      <p:sp>
        <p:nvSpPr>
          <p:cNvPr name="TextBox 11" id="11"/>
          <p:cNvSpPr txBox="true"/>
          <p:nvPr/>
        </p:nvSpPr>
        <p:spPr>
          <a:xfrm rot="0">
            <a:off x="11402349" y="5952981"/>
            <a:ext cx="4036986"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1. THE WEDGE</a:t>
            </a:r>
          </a:p>
        </p:txBody>
      </p:sp>
      <p:sp>
        <p:nvSpPr>
          <p:cNvPr name="TextBox 12" id="12"/>
          <p:cNvSpPr txBox="true"/>
          <p:nvPr/>
        </p:nvSpPr>
        <p:spPr>
          <a:xfrm rot="0">
            <a:off x="11402349" y="7191279"/>
            <a:ext cx="4036986"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2. SUPPLY FIRST</a:t>
            </a:r>
          </a:p>
        </p:txBody>
      </p:sp>
      <p:sp>
        <p:nvSpPr>
          <p:cNvPr name="TextBox 13" id="13"/>
          <p:cNvSpPr txBox="true"/>
          <p:nvPr/>
        </p:nvSpPr>
        <p:spPr>
          <a:xfrm rot="0">
            <a:off x="11402349" y="8429577"/>
            <a:ext cx="4036986"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3. COMMUNITY DEMAND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3" id="3"/>
          <p:cNvGrpSpPr/>
          <p:nvPr/>
        </p:nvGrpSpPr>
        <p:grpSpPr>
          <a:xfrm rot="0">
            <a:off x="9496845" y="2480364"/>
            <a:ext cx="3682359" cy="3902991"/>
            <a:chOff x="0" y="0"/>
            <a:chExt cx="570494" cy="604675"/>
          </a:xfrm>
        </p:grpSpPr>
        <p:sp>
          <p:nvSpPr>
            <p:cNvPr name="Freeform 4" id="4"/>
            <p:cNvSpPr/>
            <p:nvPr/>
          </p:nvSpPr>
          <p:spPr>
            <a:xfrm flipH="false" flipV="false" rot="0">
              <a:off x="0" y="0"/>
              <a:ext cx="570494" cy="604675"/>
            </a:xfrm>
            <a:custGeom>
              <a:avLst/>
              <a:gdLst/>
              <a:ahLst/>
              <a:cxnLst/>
              <a:rect r="r" b="b" t="t" l="l"/>
              <a:pathLst>
                <a:path h="604675" w="570494">
                  <a:moveTo>
                    <a:pt x="0" y="0"/>
                  </a:moveTo>
                  <a:lnTo>
                    <a:pt x="570494" y="0"/>
                  </a:lnTo>
                  <a:lnTo>
                    <a:pt x="570494" y="604675"/>
                  </a:lnTo>
                  <a:lnTo>
                    <a:pt x="0" y="604675"/>
                  </a:lnTo>
                  <a:close/>
                </a:path>
              </a:pathLst>
            </a:custGeom>
            <a:blipFill>
              <a:blip r:embed="rId4"/>
              <a:stretch>
                <a:fillRect l="0" t="-20671" r="0" b="-20671"/>
              </a:stretch>
            </a:blipFill>
          </p:spPr>
          <p:txBody>
            <a:bodyPr/>
            <a:p/>
          </p:txBody>
        </p:sp>
      </p:grpSp>
      <p:grpSp>
        <p:nvGrpSpPr>
          <p:cNvPr name="Group 5" id="5"/>
          <p:cNvGrpSpPr/>
          <p:nvPr/>
        </p:nvGrpSpPr>
        <p:grpSpPr>
          <a:xfrm rot="0">
            <a:off x="13576941" y="2480364"/>
            <a:ext cx="3682359" cy="3902991"/>
            <a:chOff x="0" y="0"/>
            <a:chExt cx="570494" cy="604675"/>
          </a:xfrm>
        </p:grpSpPr>
        <p:sp>
          <p:nvSpPr>
            <p:cNvPr name="Freeform 6" id="6"/>
            <p:cNvSpPr/>
            <p:nvPr/>
          </p:nvSpPr>
          <p:spPr>
            <a:xfrm flipH="false" flipV="false" rot="0">
              <a:off x="0" y="0"/>
              <a:ext cx="570494" cy="604675"/>
            </a:xfrm>
            <a:custGeom>
              <a:avLst/>
              <a:gdLst/>
              <a:ahLst/>
              <a:cxnLst/>
              <a:rect r="r" b="b" t="t" l="l"/>
              <a:pathLst>
                <a:path h="604675" w="570494">
                  <a:moveTo>
                    <a:pt x="0" y="0"/>
                  </a:moveTo>
                  <a:lnTo>
                    <a:pt x="570494" y="0"/>
                  </a:lnTo>
                  <a:lnTo>
                    <a:pt x="570494" y="604675"/>
                  </a:lnTo>
                  <a:lnTo>
                    <a:pt x="0" y="604675"/>
                  </a:lnTo>
                  <a:close/>
                </a:path>
              </a:pathLst>
            </a:custGeom>
            <a:blipFill>
              <a:blip r:embed="rId5"/>
              <a:stretch>
                <a:fillRect l="0" t="-3888" r="0" b="-37720"/>
              </a:stretch>
            </a:blipFill>
          </p:spPr>
          <p:txBody>
            <a:bodyPr/>
            <a:p/>
          </p:txBody>
        </p:sp>
      </p:grpSp>
      <p:sp>
        <p:nvSpPr>
          <p:cNvPr name="Freeform 7" id="7"/>
          <p:cNvSpPr/>
          <p:nvPr/>
        </p:nvSpPr>
        <p:spPr>
          <a:xfrm flipH="false" flipV="false" rot="0">
            <a:off x="3072606" y="4184123"/>
            <a:ext cx="2832735" cy="2199232"/>
          </a:xfrm>
          <a:custGeom>
            <a:avLst/>
            <a:gdLst/>
            <a:ahLst/>
            <a:cxnLst/>
            <a:rect r="r" b="b" t="t" l="l"/>
            <a:pathLst>
              <a:path h="2199232" w="2832735">
                <a:moveTo>
                  <a:pt x="0" y="0"/>
                </a:moveTo>
                <a:lnTo>
                  <a:pt x="2832735" y="0"/>
                </a:lnTo>
                <a:lnTo>
                  <a:pt x="2832735" y="2199232"/>
                </a:lnTo>
                <a:lnTo>
                  <a:pt x="0" y="2199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TextBox 8" id="8"/>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9" id="9"/>
          <p:cNvSpPr txBox="true"/>
          <p:nvPr/>
        </p:nvSpPr>
        <p:spPr>
          <a:xfrm rot="0">
            <a:off x="3025420" y="7097372"/>
            <a:ext cx="5759843" cy="1026161"/>
          </a:xfrm>
          <a:prstGeom prst="rect">
            <a:avLst/>
          </a:prstGeom>
        </p:spPr>
        <p:txBody>
          <a:bodyPr anchor="t" rtlCol="false" tIns="0" lIns="0" bIns="0" rIns="0">
            <a:spAutoFit/>
          </a:bodyPr>
          <a:lstStyle/>
          <a:p>
            <a:pPr algn="l">
              <a:lnSpc>
                <a:spcPts val="7520"/>
              </a:lnSpc>
            </a:pPr>
            <a:r>
              <a:rPr lang="en-US" b="true" sz="8000" spc="-168">
                <a:solidFill>
                  <a:srgbClr val="C1E328"/>
                </a:solidFill>
                <a:latin typeface="Open Sauce Bold"/>
                <a:ea typeface="Open Sauce Bold"/>
                <a:cs typeface="Open Sauce Bold"/>
                <a:sym typeface="Open Sauce Bold"/>
              </a:rPr>
              <a:t>THE TEAM</a:t>
            </a:r>
          </a:p>
        </p:txBody>
      </p:sp>
      <p:sp>
        <p:nvSpPr>
          <p:cNvPr name="TextBox 10" id="10"/>
          <p:cNvSpPr txBox="true"/>
          <p:nvPr/>
        </p:nvSpPr>
        <p:spPr>
          <a:xfrm rot="0">
            <a:off x="3025420" y="8341840"/>
            <a:ext cx="5405411" cy="9757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We are operators, strategists, and AI data scientists building the future of local commerce.</a:t>
            </a:r>
          </a:p>
        </p:txBody>
      </p:sp>
      <p:sp>
        <p:nvSpPr>
          <p:cNvPr name="TextBox 11" id="11"/>
          <p:cNvSpPr txBox="true"/>
          <p:nvPr/>
        </p:nvSpPr>
        <p:spPr>
          <a:xfrm rot="0">
            <a:off x="9496845" y="6815686"/>
            <a:ext cx="3233988"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ANKIT SHRIVASTAV</a:t>
            </a:r>
          </a:p>
        </p:txBody>
      </p:sp>
      <p:sp>
        <p:nvSpPr>
          <p:cNvPr name="TextBox 12" id="12"/>
          <p:cNvSpPr txBox="true"/>
          <p:nvPr/>
        </p:nvSpPr>
        <p:spPr>
          <a:xfrm rot="0">
            <a:off x="9496845" y="7187161"/>
            <a:ext cx="3682359" cy="65189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Founder &amp; Strategy</a:t>
            </a:r>
          </a:p>
        </p:txBody>
      </p:sp>
      <p:sp>
        <p:nvSpPr>
          <p:cNvPr name="TextBox 13" id="13"/>
          <p:cNvSpPr txBox="true"/>
          <p:nvPr/>
        </p:nvSpPr>
        <p:spPr>
          <a:xfrm rot="0">
            <a:off x="13576941" y="6815686"/>
            <a:ext cx="2300775"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SHANTANU JOSHI</a:t>
            </a:r>
          </a:p>
        </p:txBody>
      </p:sp>
      <p:sp>
        <p:nvSpPr>
          <p:cNvPr name="TextBox 14" id="14"/>
          <p:cNvSpPr txBox="true"/>
          <p:nvPr/>
        </p:nvSpPr>
        <p:spPr>
          <a:xfrm rot="0">
            <a:off x="13576941" y="7187161"/>
            <a:ext cx="3682359" cy="3280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Co-Founder &amp; AI Arch.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121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842256" cy="694610"/>
          </a:xfrm>
          <a:custGeom>
            <a:avLst/>
            <a:gdLst/>
            <a:ahLst/>
            <a:cxnLst/>
            <a:rect r="r" b="b" t="t" l="l"/>
            <a:pathLst>
              <a:path h="694610" w="842256">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Freeform 3" id="3"/>
          <p:cNvSpPr/>
          <p:nvPr/>
        </p:nvSpPr>
        <p:spPr>
          <a:xfrm flipH="false" flipV="false" rot="0">
            <a:off x="13049860" y="7638045"/>
            <a:ext cx="401763" cy="401763"/>
          </a:xfrm>
          <a:custGeom>
            <a:avLst/>
            <a:gdLst/>
            <a:ahLst/>
            <a:cxnLst/>
            <a:rect r="r" b="b" t="t" l="l"/>
            <a:pathLst>
              <a:path h="401763" w="401763">
                <a:moveTo>
                  <a:pt x="0" y="0"/>
                </a:moveTo>
                <a:lnTo>
                  <a:pt x="401763" y="0"/>
                </a:lnTo>
                <a:lnTo>
                  <a:pt x="401763" y="401763"/>
                </a:lnTo>
                <a:lnTo>
                  <a:pt x="0" y="4017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4" id="4"/>
          <p:cNvSpPr/>
          <p:nvPr/>
        </p:nvSpPr>
        <p:spPr>
          <a:xfrm flipH="false" flipV="false" rot="0">
            <a:off x="13049860" y="6935735"/>
            <a:ext cx="401763" cy="401763"/>
          </a:xfrm>
          <a:custGeom>
            <a:avLst/>
            <a:gdLst/>
            <a:ahLst/>
            <a:cxnLst/>
            <a:rect r="r" b="b" t="t" l="l"/>
            <a:pathLst>
              <a:path h="401763" w="401763">
                <a:moveTo>
                  <a:pt x="0" y="0"/>
                </a:moveTo>
                <a:lnTo>
                  <a:pt x="401763" y="0"/>
                </a:lnTo>
                <a:lnTo>
                  <a:pt x="401763" y="401762"/>
                </a:lnTo>
                <a:lnTo>
                  <a:pt x="0" y="401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5" id="5"/>
          <p:cNvSpPr/>
          <p:nvPr/>
        </p:nvSpPr>
        <p:spPr>
          <a:xfrm flipH="false" flipV="false" rot="0">
            <a:off x="13049860" y="8340356"/>
            <a:ext cx="401763" cy="401763"/>
          </a:xfrm>
          <a:custGeom>
            <a:avLst/>
            <a:gdLst/>
            <a:ahLst/>
            <a:cxnLst/>
            <a:rect r="r" b="b" t="t" l="l"/>
            <a:pathLst>
              <a:path h="401763" w="401763">
                <a:moveTo>
                  <a:pt x="0" y="0"/>
                </a:moveTo>
                <a:lnTo>
                  <a:pt x="401763" y="0"/>
                </a:lnTo>
                <a:lnTo>
                  <a:pt x="401763" y="401762"/>
                </a:lnTo>
                <a:lnTo>
                  <a:pt x="0" y="4017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Freeform 6" id="6"/>
          <p:cNvSpPr/>
          <p:nvPr/>
        </p:nvSpPr>
        <p:spPr>
          <a:xfrm flipH="false" flipV="false" rot="0">
            <a:off x="16245563" y="1721000"/>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grpSp>
        <p:nvGrpSpPr>
          <p:cNvPr name="Group 7" id="7"/>
          <p:cNvGrpSpPr/>
          <p:nvPr/>
        </p:nvGrpSpPr>
        <p:grpSpPr>
          <a:xfrm rot="0">
            <a:off x="4327501" y="2016710"/>
            <a:ext cx="7364944" cy="2357212"/>
            <a:chOff x="0" y="0"/>
            <a:chExt cx="2539537" cy="812800"/>
          </a:xfrm>
        </p:grpSpPr>
        <p:sp>
          <p:nvSpPr>
            <p:cNvPr name="Freeform 8" id="8"/>
            <p:cNvSpPr/>
            <p:nvPr/>
          </p:nvSpPr>
          <p:spPr>
            <a:xfrm flipH="false" flipV="false" rot="0">
              <a:off x="0" y="0"/>
              <a:ext cx="2539537" cy="812800"/>
            </a:xfrm>
            <a:custGeom>
              <a:avLst/>
              <a:gdLst/>
              <a:ahLst/>
              <a:cxnLst/>
              <a:rect r="r" b="b" t="t" l="l"/>
              <a:pathLst>
                <a:path h="812800" w="2539537">
                  <a:moveTo>
                    <a:pt x="0" y="0"/>
                  </a:moveTo>
                  <a:lnTo>
                    <a:pt x="2539537" y="0"/>
                  </a:lnTo>
                  <a:lnTo>
                    <a:pt x="2539537" y="812800"/>
                  </a:lnTo>
                  <a:lnTo>
                    <a:pt x="0" y="812800"/>
                  </a:lnTo>
                  <a:close/>
                </a:path>
              </a:pathLst>
            </a:custGeom>
            <a:blipFill>
              <a:blip r:embed="rId12"/>
              <a:stretch>
                <a:fillRect l="-25061" t="0" r="42932" b="0"/>
              </a:stretch>
            </a:blipFill>
          </p:spPr>
          <p:txBody>
            <a:bodyPr/>
            <a:p/>
          </p:txBody>
        </p:sp>
      </p:grpSp>
      <p:sp>
        <p:nvSpPr>
          <p:cNvPr name="TextBox 9" id="9"/>
          <p:cNvSpPr txBox="true"/>
          <p:nvPr/>
        </p:nvSpPr>
        <p:spPr>
          <a:xfrm rot="0">
            <a:off x="4327501" y="5108284"/>
            <a:ext cx="8027034" cy="4367043"/>
          </a:xfrm>
          <a:prstGeom prst="rect">
            <a:avLst/>
          </a:prstGeom>
        </p:spPr>
        <p:txBody>
          <a:bodyPr anchor="t" rtlCol="false" tIns="0" lIns="0" bIns="0" rIns="0">
            <a:spAutoFit/>
          </a:bodyPr>
          <a:lstStyle/>
          <a:p>
            <a:pPr algn="l">
              <a:lnSpc>
                <a:spcPts val="16719"/>
              </a:lnSpc>
            </a:pPr>
            <a:r>
              <a:rPr lang="en-US" b="true" sz="17786" spc="-373">
                <a:solidFill>
                  <a:srgbClr val="C1E328"/>
                </a:solidFill>
                <a:latin typeface="Open Sauce Bold"/>
                <a:ea typeface="Open Sauce Bold"/>
                <a:cs typeface="Open Sauce Bold"/>
                <a:sym typeface="Open Sauce Bold"/>
              </a:rPr>
              <a:t>THE ASK</a:t>
            </a:r>
          </a:p>
        </p:txBody>
      </p:sp>
      <p:sp>
        <p:nvSpPr>
          <p:cNvPr name="TextBox 10" id="10"/>
          <p:cNvSpPr txBox="true"/>
          <p:nvPr/>
        </p:nvSpPr>
        <p:spPr>
          <a:xfrm rot="0">
            <a:off x="2049367" y="1056536"/>
            <a:ext cx="1604863" cy="664464"/>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GETITNOW</a:t>
            </a:r>
          </a:p>
        </p:txBody>
      </p:sp>
      <p:sp>
        <p:nvSpPr>
          <p:cNvPr name="TextBox 11" id="11"/>
          <p:cNvSpPr txBox="true"/>
          <p:nvPr/>
        </p:nvSpPr>
        <p:spPr>
          <a:xfrm rot="0">
            <a:off x="13049860" y="6299846"/>
            <a:ext cx="2496099" cy="331089"/>
          </a:xfrm>
          <a:prstGeom prst="rect">
            <a:avLst/>
          </a:prstGeom>
        </p:spPr>
        <p:txBody>
          <a:bodyPr anchor="t" rtlCol="false" tIns="0" lIns="0" bIns="0" rIns="0">
            <a:spAutoFit/>
          </a:bodyPr>
          <a:lstStyle/>
          <a:p>
            <a:pPr algn="just">
              <a:lnSpc>
                <a:spcPts val="2688"/>
              </a:lnSpc>
            </a:pPr>
            <a:r>
              <a:rPr lang="en-US" b="true" sz="2100" spc="98">
                <a:solidFill>
                  <a:srgbClr val="C1E328"/>
                </a:solidFill>
                <a:latin typeface="Open Sauce Bold"/>
                <a:ea typeface="Open Sauce Bold"/>
                <a:cs typeface="Open Sauce Bold"/>
                <a:sym typeface="Open Sauce Bold"/>
              </a:rPr>
              <a:t>RAISING PRE-SEED:</a:t>
            </a:r>
          </a:p>
        </p:txBody>
      </p:sp>
      <p:sp>
        <p:nvSpPr>
          <p:cNvPr name="TextBox 12" id="12"/>
          <p:cNvSpPr txBox="true"/>
          <p:nvPr/>
        </p:nvSpPr>
        <p:spPr>
          <a:xfrm rot="0">
            <a:off x="13753574" y="6967833"/>
            <a:ext cx="2678174" cy="3280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+91 81785 92797 / +91 99363 28758</a:t>
            </a:r>
          </a:p>
        </p:txBody>
      </p:sp>
      <p:sp>
        <p:nvSpPr>
          <p:cNvPr name="TextBox 13" id="13"/>
          <p:cNvSpPr txBox="true"/>
          <p:nvPr/>
        </p:nvSpPr>
        <p:spPr>
          <a:xfrm rot="0">
            <a:off x="13753574" y="7670143"/>
            <a:ext cx="3505726" cy="3280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getitnow.team@gmail.com</a:t>
            </a:r>
          </a:p>
        </p:txBody>
      </p:sp>
      <p:sp>
        <p:nvSpPr>
          <p:cNvPr name="TextBox 14" id="14"/>
          <p:cNvSpPr txBox="true"/>
          <p:nvPr/>
        </p:nvSpPr>
        <p:spPr>
          <a:xfrm rot="0">
            <a:off x="13753574" y="8414077"/>
            <a:ext cx="3821042" cy="328041"/>
          </a:xfrm>
          <a:prstGeom prst="rect">
            <a:avLst/>
          </a:prstGeom>
        </p:spPr>
        <p:txBody>
          <a:bodyPr anchor="t" rtlCol="false" tIns="0" lIns="0" bIns="0" rIns="0">
            <a:spAutoFit/>
          </a:bodyPr>
          <a:lstStyle/>
          <a:p>
            <a:pPr algn="l">
              <a:lnSpc>
                <a:spcPts val="2562"/>
              </a:lnSpc>
            </a:pPr>
            <a:r>
              <a:rPr lang="en-US" sz="2100" spc="33">
                <a:solidFill>
                  <a:srgbClr val="C1E328"/>
                </a:solidFill>
                <a:latin typeface="Open Sauce Light"/>
                <a:ea typeface="Open Sauce Light"/>
                <a:cs typeface="Open Sauce Light"/>
                <a:sym typeface="Open Sauce Light"/>
              </a:rPr>
              <a:t>Use of Funds: 12mo runway to hit $50K MRR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DAHM8TsM1is</dc:identifier>
  <dcterms:modified xsi:type="dcterms:W3CDTF">2011-08-01T06:04:30Z</dcterms:modified>
  <cp:revision>1</cp:revision>
  <dc:title>Green and Black Modern Pitch Deck Presentation</dc:title>
</cp:coreProperties>
</file>